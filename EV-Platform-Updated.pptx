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71" r:id="rId4"/>
    <p:sldId id="272" r:id="rId5"/>
    <p:sldId id="27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Coverage Across All Report Tabs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 Tabs</c:v>
                </c:pt>
              </c:strCache>
            </c:strRef>
          </c:tx>
          <c:spPr>
            <a:solidFill>
              <a:srgbClr val="0D5C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CF-4282-B403-749EE46C7D8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2CF-4282-B403-749EE46C7D8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2CF-4282-B403-749EE46C7D8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2CF-4282-B403-749EE46C7D8E}"/>
              </c:ext>
            </c:extLst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CF-4282-B403-749EE46C7D8E}"/>
              </c:ext>
            </c:extLst>
          </c:dPt>
          <c:dPt>
            <c:idx val="5"/>
            <c:invertIfNegative val="0"/>
            <c:bubble3D val="0"/>
            <c:spPr>
              <a:solidFill>
                <a:srgbClr val="E64D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2CF-4282-B403-749EE46C7D8E}"/>
              </c:ext>
            </c:extLst>
          </c:dPt>
          <c:cat>
            <c:strRef>
              <c:f>Sheet1!$A$2:$A$7</c:f>
              <c:strCache>
                <c:ptCount val="6"/>
                <c:pt idx="0">
                  <c:v>Overview</c:v>
                </c:pt>
                <c:pt idx="1">
                  <c:v>Sessions</c:v>
                </c:pt>
                <c:pt idx="2">
                  <c:v>Energy</c:v>
                </c:pt>
                <c:pt idx="3">
                  <c:v>Utilisation</c:v>
                </c:pt>
                <c:pt idx="4">
                  <c:v>Sustainability</c:v>
                </c:pt>
                <c:pt idx="5">
                  <c:v>AI Insights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90</c:v>
                </c:pt>
                <c:pt idx="2">
                  <c:v>88</c:v>
                </c:pt>
                <c:pt idx="3">
                  <c:v>82</c:v>
                </c:pt>
                <c:pt idx="4">
                  <c:v>80</c:v>
                </c:pt>
                <c:pt idx="5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2CF-4282-B403-749EE46C7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92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6217920" y="457200"/>
            <a:ext cx="256032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896"/>
                </a:solidFill>
              </a:rPr>
              <a:t>EV CHARGING ORCHESTRATION PLATFORM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Delivery Overview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B3D3"/>
                </a:solidFill>
              </a:rPr>
              <a:t>21 Features  ·  50+ API Endpoints  ·  19 Frontend Pages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React 18 + TypeScript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34640" y="38404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83464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ASP.NET Core 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12080" y="38404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1208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818F0-FD83-D247-738A-42DF2257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>
            <a:extLst>
              <a:ext uri="{FF2B5EF4-FFF2-40B4-BE49-F238E27FC236}">
                <a16:creationId xmlns:a16="http://schemas.microsoft.com/office/drawing/2014/main" id="{C2B9F985-CB26-38A5-2723-9A23C2694661}"/>
              </a:ext>
            </a:extLst>
          </p:cNvPr>
          <p:cNvSpPr/>
          <p:nvPr/>
        </p:nvSpPr>
        <p:spPr>
          <a:xfrm>
            <a:off x="457200" y="228600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PRODUCT SCREENSHOTS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061F53B-6DA8-0913-2887-28DCC3AE6729}"/>
              </a:ext>
            </a:extLst>
          </p:cNvPr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NEXLevel Charge — Live UI</a:t>
            </a:r>
          </a:p>
        </p:txBody>
      </p:sp>
      <p:sp>
        <p:nvSpPr>
          <p:cNvPr id="5" name="Cap1">
            <a:extLst>
              <a:ext uri="{FF2B5EF4-FFF2-40B4-BE49-F238E27FC236}">
                <a16:creationId xmlns:a16="http://schemas.microsoft.com/office/drawing/2014/main" id="{73D0BCAE-B1DC-1DFE-8539-FD1BE741A884}"/>
              </a:ext>
            </a:extLst>
          </p:cNvPr>
          <p:cNvSpPr/>
          <p:nvPr/>
        </p:nvSpPr>
        <p:spPr>
          <a:xfrm>
            <a:off x="-68125" y="104036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Login &amp; Role Selection</a:t>
            </a:r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D5CE1F7D-0108-FA74-543E-3877653C1E16}"/>
              </a:ext>
            </a:extLst>
          </p:cNvPr>
          <p:cNvSpPr/>
          <p:nvPr/>
        </p:nvSpPr>
        <p:spPr>
          <a:xfrm>
            <a:off x="311865" y="4548981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</a:rPr>
              <a:t>Running live at localhost:5173 · OCPP 1.6J · Simulated CSMS demo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EB6875-7F77-A9CE-3EB7-7694326B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75" y="841244"/>
            <a:ext cx="3952980" cy="370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57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C1261-209D-84B3-6C07-4F05C5C61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>
            <a:extLst>
              <a:ext uri="{FF2B5EF4-FFF2-40B4-BE49-F238E27FC236}">
                <a16:creationId xmlns:a16="http://schemas.microsoft.com/office/drawing/2014/main" id="{6F18F320-3148-D4DB-D868-020323B82CA4}"/>
              </a:ext>
            </a:extLst>
          </p:cNvPr>
          <p:cNvSpPr/>
          <p:nvPr/>
        </p:nvSpPr>
        <p:spPr>
          <a:xfrm>
            <a:off x="457200" y="228600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PRODUCT SCREENSHOTS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D06D56B-138D-A1E5-C75C-A0F396D06207}"/>
              </a:ext>
            </a:extLst>
          </p:cNvPr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NEXLevel Charge — Live UI</a:t>
            </a:r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1EAFB205-6E69-E0AC-2BC3-22EA6AFA0AD9}"/>
              </a:ext>
            </a:extLst>
          </p:cNvPr>
          <p:cNvSpPr/>
          <p:nvPr/>
        </p:nvSpPr>
        <p:spPr>
          <a:xfrm>
            <a:off x="311865" y="4851899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</a:rPr>
              <a:t>Running live at localhost:5173 · OCPP 1.6J · Simulated CSMS demo data</a:t>
            </a:r>
          </a:p>
        </p:txBody>
      </p:sp>
      <p:sp>
        <p:nvSpPr>
          <p:cNvPr id="4" name="Cap2">
            <a:extLst>
              <a:ext uri="{FF2B5EF4-FFF2-40B4-BE49-F238E27FC236}">
                <a16:creationId xmlns:a16="http://schemas.microsoft.com/office/drawing/2014/main" id="{F6D9294C-B277-C1C6-51C0-8DA7A9F1EBE1}"/>
              </a:ext>
            </a:extLst>
          </p:cNvPr>
          <p:cNvSpPr/>
          <p:nvPr/>
        </p:nvSpPr>
        <p:spPr>
          <a:xfrm>
            <a:off x="163502" y="914400"/>
            <a:ext cx="27432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A9B744-CF9F-08B2-062C-0A2276B29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22" y="1319128"/>
            <a:ext cx="6788360" cy="346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3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6C5FF-BA4E-2C9B-8C40-8A4B0531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>
            <a:extLst>
              <a:ext uri="{FF2B5EF4-FFF2-40B4-BE49-F238E27FC236}">
                <a16:creationId xmlns:a16="http://schemas.microsoft.com/office/drawing/2014/main" id="{5FD232F3-673C-9130-053A-D682F30BA2CE}"/>
              </a:ext>
            </a:extLst>
          </p:cNvPr>
          <p:cNvSpPr/>
          <p:nvPr/>
        </p:nvSpPr>
        <p:spPr>
          <a:xfrm>
            <a:off x="457200" y="228600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PRODUCT SCREENSHOTS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B4D0F02-0A58-68D3-B748-74954110B299}"/>
              </a:ext>
            </a:extLst>
          </p:cNvPr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NEXLevel Charge — Live UI</a:t>
            </a:r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09396660-558B-6A14-0294-1D61BF003695}"/>
              </a:ext>
            </a:extLst>
          </p:cNvPr>
          <p:cNvSpPr/>
          <p:nvPr/>
        </p:nvSpPr>
        <p:spPr>
          <a:xfrm>
            <a:off x="311865" y="4851899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</a:rPr>
              <a:t>Running live at localhost:5173 · OCPP 1.6J · Simulated CSMS demo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1D9EE8-7503-E34E-EA43-1C3560B58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47" y="1265626"/>
            <a:ext cx="7437236" cy="3631516"/>
          </a:xfrm>
          <a:prstGeom prst="rect">
            <a:avLst/>
          </a:prstGeom>
        </p:spPr>
      </p:pic>
      <p:sp>
        <p:nvSpPr>
          <p:cNvPr id="8" name="Cap3">
            <a:extLst>
              <a:ext uri="{FF2B5EF4-FFF2-40B4-BE49-F238E27FC236}">
                <a16:creationId xmlns:a16="http://schemas.microsoft.com/office/drawing/2014/main" id="{E58D5092-FF9B-C2BA-C59A-18413B69B051}"/>
              </a:ext>
            </a:extLst>
          </p:cNvPr>
          <p:cNvSpPr/>
          <p:nvPr/>
        </p:nvSpPr>
        <p:spPr>
          <a:xfrm>
            <a:off x="225573" y="92272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Charger Availability &amp; Activity</a:t>
            </a:r>
          </a:p>
        </p:txBody>
      </p:sp>
    </p:spTree>
    <p:extLst>
      <p:ext uri="{BB962C8B-B14F-4D97-AF65-F5344CB8AC3E}">
        <p14:creationId xmlns:p14="http://schemas.microsoft.com/office/powerpoint/2010/main" val="20407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2E8D5-C25E-7B6A-EA02-2C0BEB40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>
            <a:extLst>
              <a:ext uri="{FF2B5EF4-FFF2-40B4-BE49-F238E27FC236}">
                <a16:creationId xmlns:a16="http://schemas.microsoft.com/office/drawing/2014/main" id="{5B4376F1-147F-FD90-75F0-B4439D25F5FA}"/>
              </a:ext>
            </a:extLst>
          </p:cNvPr>
          <p:cNvSpPr/>
          <p:nvPr/>
        </p:nvSpPr>
        <p:spPr>
          <a:xfrm>
            <a:off x="457200" y="228600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PRODUCT SCREENSHOTS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5903900-4C99-2393-769D-BE3F5A435E58}"/>
              </a:ext>
            </a:extLst>
          </p:cNvPr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NEXLevel Charge — Live UI</a:t>
            </a:r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4B7EF6DB-DF4D-5FF8-2AD0-C6E268C48836}"/>
              </a:ext>
            </a:extLst>
          </p:cNvPr>
          <p:cNvSpPr/>
          <p:nvPr/>
        </p:nvSpPr>
        <p:spPr>
          <a:xfrm>
            <a:off x="311865" y="4851899"/>
            <a:ext cx="8229600" cy="274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</a:rPr>
              <a:t>Running live at localhost:5173 · OCPP 1.6J · Simulated CSMS demo data</a:t>
            </a:r>
          </a:p>
        </p:txBody>
      </p:sp>
      <p:sp>
        <p:nvSpPr>
          <p:cNvPr id="8" name="Cap3">
            <a:extLst>
              <a:ext uri="{FF2B5EF4-FFF2-40B4-BE49-F238E27FC236}">
                <a16:creationId xmlns:a16="http://schemas.microsoft.com/office/drawing/2014/main" id="{F4C05D90-95FD-1EDC-4C6C-C440745A3CFB}"/>
              </a:ext>
            </a:extLst>
          </p:cNvPr>
          <p:cNvSpPr/>
          <p:nvPr/>
        </p:nvSpPr>
        <p:spPr>
          <a:xfrm>
            <a:off x="367002" y="857250"/>
            <a:ext cx="122241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6A66A-9E1C-D5D0-76A4-F9C79D3F9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65" y="1143000"/>
            <a:ext cx="7282200" cy="373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8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PLATFORM AT A GLANCE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97480" cy="173736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75488" cy="475488"/>
          </a:xfrm>
          <a:prstGeom prst="ellipse">
            <a:avLst/>
          </a:prstGeom>
          <a:solidFill>
            <a:srgbClr val="1A3A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49961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09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Features Delivered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17 full-stack · 3 backend-only · 1 frontend-only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54680" y="1325880"/>
            <a:ext cx="2697480" cy="173736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475488" cy="475488"/>
          </a:xfrm>
          <a:prstGeom prst="ellipse">
            <a:avLst/>
          </a:prstGeom>
          <a:solidFill>
            <a:srgbClr val="0D5C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499616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709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329184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8C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91840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BAA"/>
                </a:solidFill>
              </a:rPr>
              <a:t>Across 12 backend controllers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989320" y="1325880"/>
            <a:ext cx="2697480" cy="173736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26480" y="1463040"/>
            <a:ext cx="475488" cy="475488"/>
          </a:xfrm>
          <a:prstGeom prst="ellipse">
            <a:avLst/>
          </a:prstGeom>
          <a:solidFill>
            <a:srgbClr val="1A3A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499616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1709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612648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Pages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26480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Role-filtered routes with auth guards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20040" y="2880360"/>
            <a:ext cx="2697480" cy="1737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57200" y="3017520"/>
            <a:ext cx="475488" cy="475488"/>
          </a:xfrm>
          <a:prstGeom prst="ellipse">
            <a:avLst/>
          </a:prstGeom>
          <a:solidFill>
            <a:srgbClr val="1A3A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054096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3264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26" name="Text 20"/>
          <p:cNvSpPr/>
          <p:nvPr/>
        </p:nvSpPr>
        <p:spPr>
          <a:xfrm>
            <a:off x="45720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Admin · StandardUser · Security · Workplace · Management · ESG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154680" y="2880360"/>
            <a:ext cx="269748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91840" y="3017520"/>
            <a:ext cx="475488" cy="475488"/>
          </a:xfrm>
          <a:prstGeom prst="ellipse">
            <a:avLst/>
          </a:prstGeom>
          <a:solidFill>
            <a:srgbClr val="1A3A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054096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291840" y="3264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32" name="Text 25"/>
          <p:cNvSpPr/>
          <p:nvPr/>
        </p:nvSpPr>
        <p:spPr>
          <a:xfrm>
            <a:off x="329184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Entities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9184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PostgreSQL 16 with EF Core migrations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5989320" y="2880360"/>
            <a:ext cx="269748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126480" y="3017520"/>
            <a:ext cx="475488" cy="475488"/>
          </a:xfrm>
          <a:prstGeom prst="ellipse">
            <a:avLst/>
          </a:prstGeom>
          <a:solidFill>
            <a:srgbClr val="1A3A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054096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126480" y="3264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38" name="Text 30"/>
          <p:cNvSpPr/>
          <p:nvPr/>
        </p:nvSpPr>
        <p:spPr>
          <a:xfrm>
            <a:off x="612648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Background Workers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12648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CSMS Sync · No-Show Detection · Reminders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PLATFORM AT A GLANCE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420624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54864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Full-Stack Features (17)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D8"/>
                </a:solidFill>
              </a:rPr>
              <a:t>Each feature ships a frontend page, backend controller, database entity, and matching API endpoints — fully integrated end-to-end.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532888"/>
            <a:ext cx="420624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532888"/>
            <a:ext cx="54864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24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Role-Based Access (6 roles)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D8"/>
                </a:solidFill>
              </a:rPr>
              <a:t>Every route, API, and data query is scoped by role. Admins see everything; ESG viewers see only sustainability exports.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67328"/>
            <a:ext cx="420624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54864" cy="10972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858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Immutable Audit Trail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D8"/>
                </a:solidFill>
              </a:rPr>
              <a:t>Every state change — bookings, config, charger status — is logged with actor, timestamp, and a before/after diff. Tamper-proof by design.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298448"/>
            <a:ext cx="1828800" cy="1600200"/>
          </a:xfrm>
          <a:prstGeom prst="rect">
            <a:avLst/>
          </a:prstGeom>
          <a:solidFill>
            <a:srgbClr val="0D5C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4356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Controllers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414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3D3"/>
                </a:solidFill>
              </a:rPr>
              <a:t>Backend REST controllers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298448"/>
            <a:ext cx="1828800" cy="1600200"/>
          </a:xfrm>
          <a:prstGeom prst="rect">
            <a:avLst/>
          </a:prstGeom>
          <a:solidFill>
            <a:srgbClr val="075E8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4356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0408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DB Entities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414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3D3"/>
                </a:solidFill>
              </a:rPr>
              <a:t>EF Core mapped tables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127248"/>
            <a:ext cx="1828800" cy="1600200"/>
          </a:xfrm>
          <a:prstGeom prst="rect">
            <a:avLst/>
          </a:prstGeom>
          <a:solidFill>
            <a:srgbClr val="0D5C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32644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50292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API Endpoints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2428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3D3"/>
                </a:solidFill>
              </a:rPr>
              <a:t>Versioned under /api/v1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3127248"/>
            <a:ext cx="1828800" cy="1600200"/>
          </a:xfrm>
          <a:prstGeom prst="rect">
            <a:avLst/>
          </a:prstGeom>
          <a:solidFill>
            <a:srgbClr val="075E8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32644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704088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Async Workers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2428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3D3"/>
                </a:solidFill>
              </a:rPr>
              <a:t>Always-on hosted services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CAPABILITY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Feature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14630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5727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 &amp; Security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1214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JWT auth, RBAC across 6 roles, privacy notices &amp; immutable audit trail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1371600"/>
            <a:ext cx="2651760" cy="14630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37560" y="1536192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5727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Charger Management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21214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Real-time status, maintenance windows, automatic conflict detection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51760" cy="14630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72200" y="1536192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5727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Booking System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72200" y="21214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Fair-use caps, 14-day advance windows, Gantt ops dashboard, 8 booking states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65760" y="2999232"/>
            <a:ext cx="2651760" cy="14630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02920" y="3163824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2004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163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3749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InApp, Email &amp; Teams Adaptive Cards across all booking lifecycle events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00400" y="2999232"/>
            <a:ext cx="2651760" cy="14630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337560" y="3163824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2004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163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Reporting &amp; Analytics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749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6 report tabs: Overview, Sessions, Energy, Utilisation, Sustainability, AI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35040" y="2999232"/>
            <a:ext cx="2651760" cy="14630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172200" y="3163824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20040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3163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72200" y="3749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EV user eligibility management, system config panel, role-scoped audit logs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CAPABILITY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 Deep-Dive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69748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97480" cy="32004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98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Access &amp; Security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70078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6550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JWT login/logout with token refresh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" y="19842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6 roles: Admin, StandardUser, Security, Workplace, Management, ESGViewer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35915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" y="23134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Versioned privacy policy with user acknowledgement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268833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2648" y="26426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Route guards: auth, role, privacy, eligibility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154680" y="1261872"/>
            <a:ext cx="269748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54680" y="1261872"/>
            <a:ext cx="2697480" cy="320040"/>
          </a:xfrm>
          <a:prstGeom prst="rect">
            <a:avLst/>
          </a:prstGeom>
          <a:solidFill>
            <a:srgbClr val="075E86"/>
          </a:solidFill>
          <a:ln w="12700">
            <a:solidFill>
              <a:srgbClr val="075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98448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298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Charger Management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91840" y="170078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447288" y="16550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6 live statuses: Available, Charging, Unavailable, Faulted, Reserved, BlockedForMaintenance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91840" y="202996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447288" y="19842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Admin maintenance windows with overlap detection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91840" y="235915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447288" y="23134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Force-release conflicting bookings with mandatory reason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291840" y="268833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447288" y="26426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CSMS connector block/unblock on maintenance create/delete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989320" y="1261872"/>
            <a:ext cx="269748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989320" y="1261872"/>
            <a:ext cx="2697480" cy="320040"/>
          </a:xfrm>
          <a:prstGeom prst="rect">
            <a:avLst/>
          </a:prstGeom>
          <a:solidFill>
            <a:srgbClr val="045F7F"/>
          </a:solidFill>
          <a:ln w="12700">
            <a:solidFill>
              <a:srgbClr val="045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298448"/>
            <a:ext cx="246888" cy="2468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00800" y="1298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Booking System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126480" y="170078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281928" y="16550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1-hour daily fair-use cap; admin override with reason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126480" y="202996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281928" y="19842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14-day advance booking window with date navigation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126480" y="235915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281928" y="23134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8 booking states tracked through full lifecycle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6126480" y="268833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281928" y="26426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Operations Gantt chart with bulk release &amp; role filters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320040" y="2907792"/>
            <a:ext cx="269748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320040" y="2907792"/>
            <a:ext cx="269748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944368"/>
            <a:ext cx="246888" cy="2468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31520" y="2944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Notifications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457200" y="334670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612648" y="33009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3 delivery channels: InApp, Email, Teams Adaptive Card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457200" y="367588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12648" y="36301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Events: BookingConfirmed, SessionEnding, NoShowAlert, MaintenanceCreated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457200" y="400507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612648" y="39593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Unread badge counts and per-user notification feed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457200" y="433425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612648" y="4288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Admin audit view with payload preview modal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3154680" y="2907792"/>
            <a:ext cx="269748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3154680" y="2907792"/>
            <a:ext cx="2697480" cy="320040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944368"/>
            <a:ext cx="246888" cy="246888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3566160" y="2944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Reporting &amp; Analytics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3291840" y="334670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3447288" y="33009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6 report tabs with KPI tiles and chart visualisations</a:t>
            </a:r>
            <a:endParaRPr lang="en-US" sz="850" dirty="0"/>
          </a:p>
        </p:txBody>
      </p:sp>
      <p:sp>
        <p:nvSpPr>
          <p:cNvPr id="58" name="Shape 51"/>
          <p:cNvSpPr/>
          <p:nvPr/>
        </p:nvSpPr>
        <p:spPr>
          <a:xfrm>
            <a:off x="3291840" y="367588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3447288" y="36301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AI insights: NL summary, demand forecast, anomaly detection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3291840" y="400507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3447288" y="39593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Confidence levels (Low/Medium/High) based on data volume</a:t>
            </a:r>
            <a:endParaRPr lang="en-US" sz="850" dirty="0"/>
          </a:p>
        </p:txBody>
      </p:sp>
      <p:sp>
        <p:nvSpPr>
          <p:cNvPr id="62" name="Shape 55"/>
          <p:cNvSpPr/>
          <p:nvPr/>
        </p:nvSpPr>
        <p:spPr>
          <a:xfrm>
            <a:off x="3291840" y="433425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/>
          <p:nvPr/>
        </p:nvSpPr>
        <p:spPr>
          <a:xfrm>
            <a:off x="3447288" y="4288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Date range and location filters across all reports</a:t>
            </a:r>
            <a:endParaRPr lang="en-US" sz="850" dirty="0"/>
          </a:p>
        </p:txBody>
      </p:sp>
      <p:sp>
        <p:nvSpPr>
          <p:cNvPr id="64" name="Shape 57"/>
          <p:cNvSpPr/>
          <p:nvPr/>
        </p:nvSpPr>
        <p:spPr>
          <a:xfrm>
            <a:off x="5989320" y="2907792"/>
            <a:ext cx="2697480" cy="173736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8"/>
          <p:cNvSpPr/>
          <p:nvPr/>
        </p:nvSpPr>
        <p:spPr>
          <a:xfrm>
            <a:off x="5989320" y="2907792"/>
            <a:ext cx="2697480" cy="320040"/>
          </a:xfrm>
          <a:prstGeom prst="rect">
            <a:avLst/>
          </a:prstGeom>
          <a:solidFill>
            <a:srgbClr val="075E86"/>
          </a:solidFill>
          <a:ln w="12700">
            <a:solidFill>
              <a:srgbClr val="075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944368"/>
            <a:ext cx="246888" cy="246888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6400800" y="2944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Administration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6126480" y="334670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1"/>
          <p:cNvSpPr/>
          <p:nvPr/>
        </p:nvSpPr>
        <p:spPr>
          <a:xfrm>
            <a:off x="6281928" y="33009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Eligible EV user registry: email, badge ID, vehicle info, EID</a:t>
            </a:r>
            <a:endParaRPr lang="en-US" sz="850" dirty="0"/>
          </a:p>
        </p:txBody>
      </p:sp>
      <p:sp>
        <p:nvSpPr>
          <p:cNvPr id="70" name="Shape 62"/>
          <p:cNvSpPr/>
          <p:nvPr/>
        </p:nvSpPr>
        <p:spPr>
          <a:xfrm>
            <a:off x="6126480" y="367588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3"/>
          <p:cNvSpPr/>
          <p:nvPr/>
        </p:nvSpPr>
        <p:spPr>
          <a:xfrm>
            <a:off x="6281928" y="36301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System config panel: grace period, cap, emission factor, polling</a:t>
            </a:r>
            <a:endParaRPr lang="en-US" sz="850" dirty="0"/>
          </a:p>
        </p:txBody>
      </p:sp>
      <p:sp>
        <p:nvSpPr>
          <p:cNvPr id="72" name="Shape 64"/>
          <p:cNvSpPr/>
          <p:nvPr/>
        </p:nvSpPr>
        <p:spPr>
          <a:xfrm>
            <a:off x="6126480" y="400507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5"/>
          <p:cNvSpPr/>
          <p:nvPr/>
        </p:nvSpPr>
        <p:spPr>
          <a:xfrm>
            <a:off x="6281928" y="39593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All config changes audit-logged automatically</a:t>
            </a:r>
            <a:endParaRPr lang="en-US" sz="850" dirty="0"/>
          </a:p>
        </p:txBody>
      </p:sp>
      <p:sp>
        <p:nvSpPr>
          <p:cNvPr id="74" name="Shape 66"/>
          <p:cNvSpPr/>
          <p:nvPr/>
        </p:nvSpPr>
        <p:spPr>
          <a:xfrm>
            <a:off x="6126480" y="433425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/>
          <p:nvPr/>
        </p:nvSpPr>
        <p:spPr>
          <a:xfrm>
            <a:off x="6281928" y="4288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Self-service vehicle update for standard users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FEATURE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5720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</a:rPr>
              <a:t>Fair-Use Cap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A"/>
                </a:solidFill>
              </a:rPr>
              <a:t>1-hour daily limit per user. Admins can override the cap with a mandatory audit reason.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</a:rPr>
              <a:t>14-Day Advance Window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A"/>
                </a:solidFill>
              </a:rPr>
              <a:t>Bookings can be made up to 14 days ahead with date navigation and peak/demand hour highlighting.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99816"/>
            <a:ext cx="45720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99816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</a:rPr>
              <a:t>Ops Gantt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838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A"/>
                </a:solidFill>
              </a:rPr>
              <a:t>Admin/Security/Workplace view: table &amp; Gantt chart with 14-day navigation and bulk release actions.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50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</a:rPr>
              <a:t>Conflict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708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A"/>
                </a:solidFill>
              </a:rPr>
              <a:t>Maintenance blocks auto-detect overlapping bookings and support force-release with mandatory reason.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1325880"/>
            <a:ext cx="347472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Booking States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0680" y="192024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4068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Pending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04888" y="192024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04888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Confirmed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256032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04888" y="256032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04888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Completed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40680" y="32004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4068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Cancelled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04888" y="32004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04888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Released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0680" y="38404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06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NoShow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04888" y="38404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04888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Expired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4462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D3"/>
                </a:solidFill>
              </a:rPr>
              <a:t>+ 4 charger statuses tracked in real-time via CSMS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FEATURE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 — 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5568" y="1115568"/>
            <a:ext cx="512064" cy="51206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Books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B8D8"/>
                </a:solidFill>
              </a:rPr>
              <a:t>Selects date, time slot &amp; vehicle. System checks daily cap &amp; 14-day window.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2029968"/>
            <a:ext cx="10972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201168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115568"/>
            <a:ext cx="512064" cy="51206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33472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18105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B8D8"/>
                </a:solidFill>
              </a:rPr>
              <a:t>Booking stored, CSMS notified, confirmation notification sent via InApp + Email.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029968"/>
            <a:ext cx="10972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18304" y="1280160"/>
            <a:ext cx="201168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68112" y="1115568"/>
            <a:ext cx="512064" cy="51206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68112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9744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 Starts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18105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B8D8"/>
                </a:solidFill>
              </a:rPr>
              <a:t>CSMS sync updates booking to Active. Reminder sent 10 min before session ends.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48272" y="2029968"/>
            <a:ext cx="10972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94576" y="1280160"/>
            <a:ext cx="201168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44384" y="1115568"/>
            <a:ext cx="512064" cy="51206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44384" y="1115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6016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86016" y="18105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B8D8"/>
                </a:solidFill>
              </a:rPr>
              <a:t>Session ends, energy delivered and CO₂ avoided logged for sustainability reporting.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27248"/>
            <a:ext cx="425196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" y="3310128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346704"/>
            <a:ext cx="402336" cy="40233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515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No-Show Detection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51560" y="3511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Background worker compares CSMS session start against booking windows. Bookings with no session within the grace period are auto-flagged as NoShow. Alerts sent to user and operations staff.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800600" y="3127248"/>
            <a:ext cx="425196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910328" y="3310128"/>
            <a:ext cx="475488" cy="475488"/>
          </a:xfrm>
          <a:prstGeom prst="ellipse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346704"/>
            <a:ext cx="402336" cy="40233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864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Override &amp; Operator Release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486400" y="3511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Admins can override the daily fair-use cap with a mandatory reason captured in the audit log. Operators can release bookings on behalf of users with a 5-character minimum justification.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65760" y="4087368"/>
            <a:ext cx="425196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0360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75488" y="4270248"/>
            <a:ext cx="475488" cy="475488"/>
          </a:xfrm>
          <a:prstGeom prst="ellipse">
            <a:avLst/>
          </a:prstGeom>
          <a:solidFill>
            <a:srgbClr val="036075"/>
          </a:solidFill>
          <a:ln w="12700">
            <a:solidFill>
              <a:srgbClr val="0360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306824"/>
            <a:ext cx="402336" cy="402336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05156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 Detail &amp; CSMS Sync Status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1051560" y="44714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Each booking page shows the linked charging session, CSMS sync status, energy delivered, and time-sensitive action buttons (cancel, release, operator override).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4800600" y="4087368"/>
            <a:ext cx="425196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045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4910328" y="4270248"/>
            <a:ext cx="475488" cy="475488"/>
          </a:xfrm>
          <a:prstGeom prst="ellipse">
            <a:avLst/>
          </a:prstGeom>
          <a:solidFill>
            <a:srgbClr val="045F7F"/>
          </a:solidFill>
          <a:ln w="12700">
            <a:solidFill>
              <a:srgbClr val="045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4306824"/>
            <a:ext cx="402336" cy="402336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48640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Configurable Thresholds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5486400" y="44714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8D8"/>
                </a:solidFill>
              </a:rPr>
              <a:t>Grace period, no-show threshold, and daily cap are all managed via the System Configuration Panel — changes take effect immediately and are audit logged.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INTELLIGENCE &amp;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AI Analytics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280160"/>
            <a:ext cx="3063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0" y="1280160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97880" y="1344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Natural Language 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Plain-English analysis of charging patterns across any date range and location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0" y="2176272"/>
            <a:ext cx="3063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0" y="2176272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978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Demand Forecast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Predicts peak utilisation windows and flags potential capacity shortfalls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15000" y="3072384"/>
            <a:ext cx="306324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3072384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9788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Automatically surfaces irregular sessions, no-show spikes, and underused chargers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15000" y="3968496"/>
            <a:ext cx="306324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15000" y="3968496"/>
            <a:ext cx="64008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9788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 Levels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97880" y="43525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AI results tagged Low / Medium / High based on available session data volume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INTELLIGENCE &amp;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Report Tab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560320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560320" cy="347472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700784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Live KPIs: available chargers, active sessions, energy delivered today, CO₂ avoided. Real-time charger availability grid and recent activity feed.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261872"/>
            <a:ext cx="2560320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075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1261872"/>
            <a:ext cx="2560320" cy="347472"/>
          </a:xfrm>
          <a:prstGeom prst="rect">
            <a:avLst/>
          </a:prstGeom>
          <a:solidFill>
            <a:srgbClr val="075E86"/>
          </a:solidFill>
          <a:ln w="12700">
            <a:solidFill>
              <a:srgbClr val="075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18688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8688" y="1700784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Full session history with state tracking: Charging, Completed, StoppedByUser, StoppedByAdmin, NoShow, Expired. Linked to bookings and users.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261872"/>
            <a:ext cx="2560320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045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1261872"/>
            <a:ext cx="2560320" cy="347472"/>
          </a:xfrm>
          <a:prstGeom prst="rect">
            <a:avLst/>
          </a:prstGeom>
          <a:solidFill>
            <a:srgbClr val="045F7F"/>
          </a:solidFill>
          <a:ln w="12700">
            <a:solidFill>
              <a:srgbClr val="045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61888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Energy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1700784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kWh delivered per charger and location over time. Supports carbon accounting using the configurable emission factor (kg CO₂/kWh).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560320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0360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560320" cy="347472"/>
          </a:xfrm>
          <a:prstGeom prst="rect">
            <a:avLst/>
          </a:prstGeom>
          <a:solidFill>
            <a:srgbClr val="036075"/>
          </a:solidFill>
          <a:ln w="12700">
            <a:solidFill>
              <a:srgbClr val="0360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Utilisation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27355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Charger occupancy rates, peak vs off-peak demand patterns, and booking-to-session conversion rates across the fleet.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2834640"/>
            <a:ext cx="2560320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08960" y="2834640"/>
            <a:ext cx="25603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18688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Sustainability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18688" y="327355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CO₂ avoided metrics, ESG-ready exports for ReportingESGViewer role, and trend analysis across reporting periods.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2834640"/>
            <a:ext cx="2560320" cy="1719072"/>
          </a:xfrm>
          <a:prstGeom prst="rect">
            <a:avLst/>
          </a:prstGeom>
          <a:solidFill>
            <a:srgbClr val="1A2E45"/>
          </a:solidFill>
          <a:ln w="12700">
            <a:solidFill>
              <a:srgbClr val="E64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52160" y="2834640"/>
            <a:ext cx="2560320" cy="347472"/>
          </a:xfrm>
          <a:prstGeom prst="rect">
            <a:avLst/>
          </a:prstGeom>
          <a:solidFill>
            <a:srgbClr val="E64D00"/>
          </a:solidFill>
          <a:ln w="12700">
            <a:solidFill>
              <a:srgbClr val="E64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61888" y="28712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Insights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61888" y="327355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8D8"/>
                </a:solidFill>
              </a:rPr>
              <a:t>Grounded AI analysis: NL summary, demand forecast, detected anomalies, and prioritised recommendations — all confidence-tagged.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8412480" cy="621792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37160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35331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React 18  ·  Vite  ·  TypeScript  ·  Tailwind CSS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8412480" cy="621792"/>
          </a:xfrm>
          <a:prstGeom prst="rect">
            <a:avLst/>
          </a:prstGeom>
          <a:solidFill>
            <a:srgbClr val="075E86"/>
          </a:solidFill>
          <a:ln w="12700">
            <a:solidFill>
              <a:srgbClr val="075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137160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756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07568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ASP.NET Core 8  ·  C#  ·  REST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8412480" cy="621792"/>
          </a:xfrm>
          <a:prstGeom prst="rect">
            <a:avLst/>
          </a:prstGeom>
          <a:solidFill>
            <a:srgbClr val="045F7F"/>
          </a:solidFill>
          <a:ln w="12700">
            <a:solidFill>
              <a:srgbClr val="045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137160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79806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798064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 16  ·  Entity Framework Core 8  ·  Npgsql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8412480" cy="621792"/>
          </a:xfrm>
          <a:prstGeom prst="rect">
            <a:avLst/>
          </a:prstGeom>
          <a:solidFill>
            <a:srgbClr val="036075"/>
          </a:solidFill>
          <a:ln w="12700">
            <a:solidFill>
              <a:srgbClr val="0360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137160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Auth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520440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JWT Bearer Tokens  ·  Role-Based Access Control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42816"/>
            <a:ext cx="8412480" cy="621792"/>
          </a:xfrm>
          <a:prstGeom prst="rect">
            <a:avLst/>
          </a:prstGeom>
          <a:solidFill>
            <a:srgbClr val="02606C"/>
          </a:solidFill>
          <a:ln w="12700">
            <a:solidFill>
              <a:srgbClr val="0260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242816"/>
            <a:ext cx="137160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24281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4242816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CSMS HTTP Client  ·  Mock-mode fallback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974336"/>
            <a:ext cx="8412480" cy="56692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974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</a:rPr>
              <a:t>Background Workers:   CSMS Sync (5s polling)   ·   No-Show Detection   ·   Reminder Scheduler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896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&amp; Rationale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78308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329184"/>
          </a:xfrm>
          <a:prstGeom prst="rect">
            <a:avLst/>
          </a:prstGeom>
          <a:solidFill>
            <a:srgbClr val="0D5C8C"/>
          </a:solidFill>
          <a:ln w="12700">
            <a:solidFill>
              <a:srgbClr val="0D5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710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710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18 + TypeScript + Vite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6459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Type-safe component architecture across all 19 pages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02082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" y="19751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Vite dev server for fast HMR; production build with tree-shaking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35000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Tailwind CSS for consistent, responsive UI without a design system dependency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267919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2648" y="2633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Role-filtered navigation and lazy-loaded route guards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154680" y="1234440"/>
            <a:ext cx="2697480" cy="178308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54680" y="1234440"/>
            <a:ext cx="2697480" cy="329184"/>
          </a:xfrm>
          <a:prstGeom prst="rect">
            <a:avLst/>
          </a:prstGeom>
          <a:solidFill>
            <a:srgbClr val="075E86"/>
          </a:solidFill>
          <a:ln w="12700">
            <a:solidFill>
              <a:srgbClr val="075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71016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66160" y="12710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ASP.NET Core 8 (C#)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91840" y="169164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447288" y="16459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Minimal API + Controllers hybrid for clean endpoint separation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91840" y="202082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447288" y="19751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Dependency injection throughout — services, repositories, workers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91840" y="235000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447288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3 hosted IHostedService workers running on startup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291840" y="267919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447288" y="2633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OpenAPI spec auto-generated from controllers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989320" y="1234440"/>
            <a:ext cx="2697480" cy="178308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989320" y="1234440"/>
            <a:ext cx="2697480" cy="329184"/>
          </a:xfrm>
          <a:prstGeom prst="rect">
            <a:avLst/>
          </a:prstGeom>
          <a:solidFill>
            <a:srgbClr val="045F7F"/>
          </a:solidFill>
          <a:ln w="12700">
            <a:solidFill>
              <a:srgbClr val="045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271016"/>
            <a:ext cx="246888" cy="2468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00800" y="12710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 16 + EF Core 8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126480" y="169164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281928" y="16459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12 entities with code-first migrations via EF Core 8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126480" y="202082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281928" y="19751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Npgsql provider for high-performance .NET ↔ Postgres communication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126480" y="235000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281928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Soft deletes on users (Inactive status) to preserve audit history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6126480" y="267919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281928" y="2633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Connection pooling and async query patterns throughout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320040" y="2907792"/>
            <a:ext cx="2697480" cy="178308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320040" y="2907792"/>
            <a:ext cx="2697480" cy="329184"/>
          </a:xfrm>
          <a:prstGeom prst="rect">
            <a:avLst/>
          </a:prstGeom>
          <a:solidFill>
            <a:srgbClr val="036075"/>
          </a:solidFill>
          <a:ln w="12700">
            <a:solidFill>
              <a:srgbClr val="0360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944368"/>
            <a:ext cx="246888" cy="2468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31520" y="2944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JWT Auth + RBAC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57200" y="336499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612648" y="33192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Stateless JWT Bearer tokens — no server-side session storage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457200" y="369417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12648" y="36484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Claims-based role enforcement on every protected endpoint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457200" y="402336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612648" y="3977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RequireAuth / RequireRole / RequirePrivacyAck guards on frontend routes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457200" y="435254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612648" y="4306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Token validated on every request; logout clears client-side token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3154680" y="2907792"/>
            <a:ext cx="2697480" cy="178308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3154680" y="2907792"/>
            <a:ext cx="26974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944368"/>
            <a:ext cx="246888" cy="246888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3566160" y="2944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CSMS Integration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3291840" y="336499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3447288" y="33192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Typed HttpClient with retry and timeout policies</a:t>
            </a:r>
            <a:endParaRPr lang="en-US" sz="850" dirty="0"/>
          </a:p>
        </p:txBody>
      </p:sp>
      <p:sp>
        <p:nvSpPr>
          <p:cNvPr id="58" name="Shape 51"/>
          <p:cNvSpPr/>
          <p:nvPr/>
        </p:nvSpPr>
        <p:spPr>
          <a:xfrm>
            <a:off x="3291840" y="369417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3447288" y="36484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5-second polling for connector state and session updates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3291840" y="402336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3447288" y="3977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Mock-mode fallback keeps the platform functional in demo environments</a:t>
            </a:r>
            <a:endParaRPr lang="en-US" sz="850" dirty="0"/>
          </a:p>
        </p:txBody>
      </p:sp>
      <p:sp>
        <p:nvSpPr>
          <p:cNvPr id="62" name="Shape 55"/>
          <p:cNvSpPr/>
          <p:nvPr/>
        </p:nvSpPr>
        <p:spPr>
          <a:xfrm>
            <a:off x="3291840" y="435254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6"/>
          <p:cNvSpPr/>
          <p:nvPr/>
        </p:nvSpPr>
        <p:spPr>
          <a:xfrm>
            <a:off x="3447288" y="4306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Connector block/unblock called automatically on maintenance create/delete</a:t>
            </a:r>
            <a:endParaRPr lang="en-US" sz="850" dirty="0"/>
          </a:p>
        </p:txBody>
      </p:sp>
      <p:sp>
        <p:nvSpPr>
          <p:cNvPr id="64" name="Shape 57"/>
          <p:cNvSpPr/>
          <p:nvPr/>
        </p:nvSpPr>
        <p:spPr>
          <a:xfrm>
            <a:off x="5989320" y="2907792"/>
            <a:ext cx="2697480" cy="178308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8"/>
          <p:cNvSpPr/>
          <p:nvPr/>
        </p:nvSpPr>
        <p:spPr>
          <a:xfrm>
            <a:off x="5989320" y="2907792"/>
            <a:ext cx="2697480" cy="329184"/>
          </a:xfrm>
          <a:prstGeom prst="rect">
            <a:avLst/>
          </a:prstGeom>
          <a:solidFill>
            <a:srgbClr val="E64D00"/>
          </a:solidFill>
          <a:ln w="12700">
            <a:solidFill>
              <a:srgbClr val="E64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944368"/>
            <a:ext cx="246888" cy="246888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6400800" y="2944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Background Workers</a:t>
            </a:r>
            <a:endParaRPr lang="en-US" sz="950" dirty="0"/>
          </a:p>
        </p:txBody>
      </p:sp>
      <p:sp>
        <p:nvSpPr>
          <p:cNvPr id="68" name="Shape 60"/>
          <p:cNvSpPr/>
          <p:nvPr/>
        </p:nvSpPr>
        <p:spPr>
          <a:xfrm>
            <a:off x="6126480" y="336499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1"/>
          <p:cNvSpPr/>
          <p:nvPr/>
        </p:nvSpPr>
        <p:spPr>
          <a:xfrm>
            <a:off x="6281928" y="33192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CSMS Sync: polls every 5 seconds, updates session and charger state</a:t>
            </a:r>
            <a:endParaRPr lang="en-US" sz="850" dirty="0"/>
          </a:p>
        </p:txBody>
      </p:sp>
      <p:sp>
        <p:nvSpPr>
          <p:cNvPr id="70" name="Shape 62"/>
          <p:cNvSpPr/>
          <p:nvPr/>
        </p:nvSpPr>
        <p:spPr>
          <a:xfrm>
            <a:off x="6126480" y="369417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3"/>
          <p:cNvSpPr/>
          <p:nvPr/>
        </p:nvSpPr>
        <p:spPr>
          <a:xfrm>
            <a:off x="6281928" y="36484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No-Show Detection: compares booking windows against session start times</a:t>
            </a:r>
            <a:endParaRPr lang="en-US" sz="850" dirty="0"/>
          </a:p>
        </p:txBody>
      </p:sp>
      <p:sp>
        <p:nvSpPr>
          <p:cNvPr id="72" name="Shape 64"/>
          <p:cNvSpPr/>
          <p:nvPr/>
        </p:nvSpPr>
        <p:spPr>
          <a:xfrm>
            <a:off x="6126480" y="4023360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5"/>
          <p:cNvSpPr/>
          <p:nvPr/>
        </p:nvSpPr>
        <p:spPr>
          <a:xfrm>
            <a:off x="6281928" y="3977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Reminder Scheduler: fires pre-session and session-ending notifications</a:t>
            </a:r>
            <a:endParaRPr lang="en-US" sz="850" dirty="0"/>
          </a:p>
        </p:txBody>
      </p:sp>
      <p:sp>
        <p:nvSpPr>
          <p:cNvPr id="74" name="Shape 66"/>
          <p:cNvSpPr/>
          <p:nvPr/>
        </p:nvSpPr>
        <p:spPr>
          <a:xfrm>
            <a:off x="6126480" y="435254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/>
          <p:nvPr/>
        </p:nvSpPr>
        <p:spPr>
          <a:xfrm>
            <a:off x="6281928" y="4306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</a:rPr>
              <a:t>All workers are gracefully cancellable on application shutdown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896"/>
                </a:solidFill>
              </a:rPr>
              <a:t>READY FOR PRODUCTION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secure EV charging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platform.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3063240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E8"/>
                </a:solidFill>
              </a:rPr>
              <a:t>21 features spanning the full booking and charging lifecycle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456432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E8"/>
                </a:solidFill>
              </a:rPr>
              <a:t>Role-based access control across 6 user types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849624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38221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E8"/>
                </a:solidFill>
              </a:rPr>
              <a:t>Real-time CSMS integration with 3 always-on background workers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24281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4215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E8"/>
                </a:solidFill>
              </a:rPr>
              <a:t>AI-powered insights with sustainability and ESG reporting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636008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46085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E8"/>
                </a:solidFill>
              </a:rPr>
              <a:t>Immutable audit trail and multi-channel notifications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1538</Words>
  <Application>Microsoft Office PowerPoint</Application>
  <PresentationFormat>On-screen Show (16:9)</PresentationFormat>
  <Paragraphs>240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Orchestration Platform</dc:title>
  <dc:subject>PptxGenJS Presentation</dc:subject>
  <dc:creator>PptxGenJS</dc:creator>
  <cp:lastModifiedBy>Jaygobin, Atulsingh</cp:lastModifiedBy>
  <cp:revision>2</cp:revision>
  <dcterms:created xsi:type="dcterms:W3CDTF">2026-05-23T02:01:47Z</dcterms:created>
  <dcterms:modified xsi:type="dcterms:W3CDTF">2026-05-23T02:42:54Z</dcterms:modified>
</cp:coreProperties>
</file>